
<file path=[Content_Types].xml><?xml version="1.0" encoding="utf-8"?>
<Types xmlns="http://schemas.openxmlformats.org/package/2006/content-types">
  <Default Extension="eyjjb2rlijoidxnly2fzzurpywdyyw1cbiagicbhy3rvcibvc2vyxg4gicagywn0b3igqwrtaw5cbiagicbvc2vyic0tpiaou2nhbibtaw5nbgugvvjmkvxuicagifvzzxigls0+ichty2fuifnpbmdszsbvuekpxg4gicagvxnlciatlt4gkej1bgsgu2nhbib2awegq1nwkvxuicagifvzzxigls0+ichfehbvcnqgu2nhbibiaxn0b3j5kv" ContentType="image/eyjjb2rlijoidxnly2fzzurpywdyyw1cbiagicbhy3rvcibvc2vyxg4gicagywn0b3igqwrtaw5cbiagicbvc2vyic0tpiaou2nhbibtaw5nbgugvvjmkvxuicagifvzzxigls0+ichty2fuifnpbmdszsbvuekpxg4gicagvxnlciatlt4gkej1bgsgu2nhbib2awegq1nwkvxuicagifvzzxigls0+ichfehbvcnqgu2nhbibiaxn0b3j5kvxuicagiefkbwluic0tpiaovmlldybhbg9iywwgu3rhdhmpxg4gicagqwrtaw4gls0+ichdb25mawd1cmugqvbjietlexmpxg4gicagkej1bgsgu2nhbib2awegq1nwksaupiaou2nhbibtaw5nbgugvvjmksa6idw8aw5jbhvkzxm+piisim1lcm1hawqionsidghlbwuioijkyxjrin19"/>
  <Default Extension="eyjjb2rlijoiz3jhcgggtfjcbiagicbvc2vykftvc2vyxskgls0gu3vibwl0cybvukwvvvbjic0tpibtexn0zw1brnjhdwrfewugu3lzdgvtxvxuicagifn5c3rlbsatlsbszxr1cm5zifzlcmrpy3qgjibfdmlkzw5jzsatlt4gvxnlclxuicagifn5c3rlbsatlsbrdwvyawvziervbwfpbi9tu0wgls0+ifdlyltfehrlcm5hbcbxzwigu2" ContentType="image/eyjjb2rlijoiz3jhcgggtfjcbiagicbvc2vykftvc2vyxskgls0gu3vibwl0cybvukwvvvbjic0tpibtexn0zw1brnjhdwrfewugu3lzdgvtxvxuicagifn5c3rlbsatlsbszxr1cm5zifzlcmrpy3qgjibfdmlkzw5jzsatlt4gvxnlclxuicagifn5c3rlbsatlsbrdwvyawvziervbwfpbi9tu0wgls0+ifdlyltfehrlcm5hbcbxzwigu2vydmvyc11cbiagicbtexn0zw0gls0guxvlcmllcybbuekgls0+iedtqlthb29nbgugu2fmzsbccm93c2luz10ilcjtzxjtywlkijp7inrozw1lijoizgfyayj9fq=="/>
  <Default Extension="eyjjb2rlijoiz3jhcgggvercbiagicbvsvtgcm9udgvuzcbeyxnoym9hcmrdic0tpibbuekotm9kzs5qcyavifbiucbcywnrzw5kkvxuicagiefqssatlt4gq1tdbgfzc2lmawvyxvxuicagiemgls0+ifvstevuz2luzvtvukwguglwzwxpbmvdxg4gicagqyatlt4gvvbjrw5naw5lw1vqssbqaxblbgluzv1cbiagicbvukxfbmdpbmugls" ContentType="image/eyjjb2rlijoiz3jhcgggvercbiagicbvsvtgcm9udgvuzcbeyxnoym9hcmrdic0tpibbuekotm9kzs5qcyavifbiucbcywnrzw5kkvxuicagiefqssatlt4gq1tdbgfzc2lmawvyxvxuicagiemgls0+ifvstevuz2luzvtvukwguglwzwxpbmvdxg4gicagqyatlt4gvvbjrw5naw5lw1vqssbqaxblbgluzv1cbiagicbvukxfbmdpbmugls0+iexleftmzxhpy2fsxvxuicagifvstevuz2luzsatlt4gre5tw0rou11cbiagicbvukxfbmdpbmugls0+ifnttfttu0xdxg4gicagvvjmrw5naw5lic0tpibusvtuahjlyxqgsw50zwxdxg4gicagtgv4ic0tpibsrvtsaxnrievuz2luzv1cbiagicbetlmgls0+ifjfxg4gicagu1nmic0tpibsrvxuicagifrjic0tpibsrvxuicagifvqsuvuz2luzsatlt4gukvcbiagicbsrsatlt4grejbkerhdgfiyxnlkv1cbiagicbsrsatlt4gvukilcjtzxjtywlkijp7inrozw1lijoizgfyayj9fq=="/>
  <Default Extension="eyjjb2rlijoizxjeawfncmftxg4gicagu0nbtl9trvntsu9ouyb7xg4gicagicagigludcbzy2fux2lkifblxg4gicagicagihn0cmluzybpbnb1df90exblxg4gicagicagihn0cmluzybwyxlsb2fkx3r5cgvcbiagicagicagc3ryaw5nigzpbmfsx3vybfxuicagicagicbpbnqgcmlza19zy29yzvxuicagicagicbzdhjpbmcgcmlza1" ContentType="image/eyjjb2rlijoizxjeawfncmftxg4gicagu0nbtl9trvntsu9ouyb7xg4gicagicagigludcbzy2fux2lkifblxg4gicagicagihn0cmluzybpbnb1df90exblxg4gicagicagihn0cmluzybwyxlsb2fkx3r5cgvcbiagicagicagc3ryaw5nigzpbmfsx3vybfxuicagicagicbpbnqgcmlza19zy29yzvxuicagicagicbzdhjpbmcgcmlza19szxzlbfxuicagih1cbiagicbusfjfqvrfsu5esunbve9suyb7xg4gicagicagigludcbpbmrpy2f0b3jfawqguetcbiagicagicagaw50ihnjyw5fawqgrktcbiagicagicagc3ryaw5nihnldmvyaxr5xg4gicagfvxuicagiejbvenix0ppqlmge1xuicagicagicbzdhjpbmcgymf0y2hfawqguetcbiagicagicagc3ryaw5nihn0yxr1c1xuicagih1cbiagicbtq0fox1nfu1njt05tihx8ls1veybusfjfqvrfsu5esunbve9suya6igdlbmvyyxrlc1xuicagiejbvenix0ppqlmgfhwtlw97ifndqu5fu0vtu0lptlmgoibjb250ywlucyisim1lcm1hawqionsidghlbwuioijkyxjrin19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9270A-C6D2-4A07-A734-158665D7824B}" v="3" dt="2026-07-09T13:54:31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thak Salunke" userId="f535436099116334" providerId="LiveId" clId="{AAE03E90-2419-4E10-9AFF-7E5DCE1450F7}"/>
    <pc:docChg chg="custSel modSld">
      <pc:chgData name="Sarthak Salunke" userId="f535436099116334" providerId="LiveId" clId="{AAE03E90-2419-4E10-9AFF-7E5DCE1450F7}" dt="2026-07-09T13:55:01.196" v="42" actId="14100"/>
      <pc:docMkLst>
        <pc:docMk/>
      </pc:docMkLst>
      <pc:sldChg chg="modSp mod">
        <pc:chgData name="Sarthak Salunke" userId="f535436099116334" providerId="LiveId" clId="{AAE03E90-2419-4E10-9AFF-7E5DCE1450F7}" dt="2026-07-09T13:52:58.710" v="34" actId="20577"/>
        <pc:sldMkLst>
          <pc:docMk/>
          <pc:sldMk cId="0" sldId="256"/>
        </pc:sldMkLst>
        <pc:spChg chg="mod">
          <ac:chgData name="Sarthak Salunke" userId="f535436099116334" providerId="LiveId" clId="{AAE03E90-2419-4E10-9AFF-7E5DCE1450F7}" dt="2026-07-09T13:51:48.297" v="16" actId="122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rthak Salunke" userId="f535436099116334" providerId="LiveId" clId="{AAE03E90-2419-4E10-9AFF-7E5DCE1450F7}" dt="2026-07-09T13:51:48.297" v="16" actId="122"/>
          <ac:spMkLst>
            <pc:docMk/>
            <pc:sldMk cId="0" sldId="256"/>
            <ac:spMk id="3" creationId="{00000000-0000-0000-0000-000000000000}"/>
          </ac:spMkLst>
        </pc:spChg>
        <pc:spChg chg="mod">
          <ac:chgData name="Sarthak Salunke" userId="f535436099116334" providerId="LiveId" clId="{AAE03E90-2419-4E10-9AFF-7E5DCE1450F7}" dt="2026-07-09T13:52:58.710" v="34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rthak Salunke" userId="f535436099116334" providerId="LiveId" clId="{AAE03E90-2419-4E10-9AFF-7E5DCE1450F7}" dt="2026-07-09T13:52:42.460" v="27" actId="1076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Sarthak Salunke" userId="f535436099116334" providerId="LiveId" clId="{AAE03E90-2419-4E10-9AFF-7E5DCE1450F7}" dt="2026-07-09T13:54:00.050" v="36"/>
        <pc:sldMkLst>
          <pc:docMk/>
          <pc:sldMk cId="0" sldId="263"/>
        </pc:sldMkLst>
        <pc:picChg chg="mod">
          <ac:chgData name="Sarthak Salunke" userId="f535436099116334" providerId="LiveId" clId="{AAE03E90-2419-4E10-9AFF-7E5DCE1450F7}" dt="2026-07-09T13:54:00.050" v="36"/>
          <ac:picMkLst>
            <pc:docMk/>
            <pc:sldMk cId="0" sldId="263"/>
            <ac:picMk id="4" creationId="{00000000-0000-0000-0000-000000000000}"/>
          </ac:picMkLst>
        </pc:picChg>
      </pc:sldChg>
      <pc:sldChg chg="modSp">
        <pc:chgData name="Sarthak Salunke" userId="f535436099116334" providerId="LiveId" clId="{AAE03E90-2419-4E10-9AFF-7E5DCE1450F7}" dt="2026-07-09T13:53:42.580" v="35"/>
        <pc:sldMkLst>
          <pc:docMk/>
          <pc:sldMk cId="0" sldId="264"/>
        </pc:sldMkLst>
        <pc:picChg chg="mod">
          <ac:chgData name="Sarthak Salunke" userId="f535436099116334" providerId="LiveId" clId="{AAE03E90-2419-4E10-9AFF-7E5DCE1450F7}" dt="2026-07-09T13:53:42.580" v="35"/>
          <ac:picMkLst>
            <pc:docMk/>
            <pc:sldMk cId="0" sldId="264"/>
            <ac:picMk id="4" creationId="{00000000-0000-0000-0000-000000000000}"/>
          </ac:picMkLst>
        </pc:picChg>
      </pc:sldChg>
      <pc:sldChg chg="modSp mod">
        <pc:chgData name="Sarthak Salunke" userId="f535436099116334" providerId="LiveId" clId="{AAE03E90-2419-4E10-9AFF-7E5DCE1450F7}" dt="2026-07-09T13:55:01.196" v="42" actId="14100"/>
        <pc:sldMkLst>
          <pc:docMk/>
          <pc:sldMk cId="0" sldId="266"/>
        </pc:sldMkLst>
        <pc:picChg chg="mod">
          <ac:chgData name="Sarthak Salunke" userId="f535436099116334" providerId="LiveId" clId="{AAE03E90-2419-4E10-9AFF-7E5DCE1450F7}" dt="2026-07-09T13:55:01.196" v="42" actId="14100"/>
          <ac:picMkLst>
            <pc:docMk/>
            <pc:sldMk cId="0" sldId="266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616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F0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yjjb2rlijoiz3jhcgggvercbiagicbvsvtgcm9udgvuzcbeyxnoym9hcmrdic0tpibbuekotm9kzs5qcyavifbiucbcywnrzw5kkvxuicagiefqssatlt4gq1tdbgfzc2lmawvyxvxuicagiemgls0+ifvstevuz2luzvtvukwguglwzwxpbmvdxg4gicagqyatlt4gvvbjrw5naw5lw1vqssbqaxblbgluzv1cbiagicbvukxfbmdpbmugls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yjjb2rlijoiz3jhcgggtfjcbiagicbvc2vykftvc2vyxskgls0gu3vibwl0cybvukwvvvbjic0tpibtexn0zw1brnjhdwrfewugu3lzdgvtxvxuicagifn5c3rlbsatlsbszxr1cm5zifzlcmrpy3qgjibfdmlkzw5jzsatlt4gvxnlclxuicagifn5c3rlbsatlsbrdwvyawvziervbwfpbi9tu0wgls0+ifdlyltfehrlcm5hbcbxzwigu2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yjjb2rlijoidxnly2fzzurpywdyyw1cbiagicbhy3rvcibvc2vyxg4gicagywn0b3igqwrtaw5cbiagicbvc2vyic0tpiaou2nhbibtaw5nbgugvvjmkvxuicagifvzzxigls0+ichty2fuifnpbmdszsbvuekpxg4gicagvxnlciatlt4gkej1bgsgu2nhbib2awegq1nwkvxuicagifvzzxigls0+ichfehbvcnqgu2nhbibiaxn0b3j5k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yjjb2rlijoizxjeawfncmftxg4gicagu0nbtl9trvntsu9ouyb7xg4gicagicagigludcbzy2fux2lkifblxg4gicagicagihn0cmluzybpbnb1df90exblxg4gicagicagihn0cmluzybwyxlsb2fkx3r5cgvcbiagicagicagc3ryaw5nigzpbmfsx3vybfxuicagicagicbpbnqgcmlza19zy29yzvxuicagicagicbzdhjpbmcgcmlza1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3809" y="97155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000"/>
                </a:solidFill>
              </a:rPr>
              <a:t>School of Engineering and Technology (MGMU)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C000"/>
                </a:solidFill>
              </a:rPr>
              <a:t>(BE) - Computer Science &amp; Engineering (ICBT)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1771649"/>
            <a:ext cx="73152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F0FF"/>
                </a:solidFill>
              </a:rPr>
              <a:t>Project Title: SOET Website With Chatbot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6185" y="2600546"/>
            <a:ext cx="2743200" cy="1314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Project Member’s:  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8FAFC"/>
                </a:solidFill>
              </a:rPr>
              <a:t>	</a:t>
            </a:r>
            <a:r>
              <a:rPr lang="en-US" sz="1800" dirty="0">
                <a:solidFill>
                  <a:srgbClr val="F8FAFC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8FAFC"/>
                </a:solidFill>
              </a:rPr>
              <a:t>		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168682" y="3914556"/>
            <a:ext cx="2975318" cy="600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</a:rPr>
              <a:t>Guided By:  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</a:rPr>
              <a:t>Mrs. Sarika Rathi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0FF"/>
                </a:solidFill>
              </a:rPr>
              <a:t>Content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1. Abstract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2. Introduction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3. Objectives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4. Literature Survey &amp; Review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5. Methodology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6. System Architecture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7. DFD, UML, and ER Diagrams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8. System Modules and Data Flow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9. Tool and Technology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10. Findings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11. Conclusion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12. Future Scope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13. Reference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0FF"/>
                </a:solidFill>
              </a:rPr>
              <a:t>Abstract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FraudEye is an advanced cybersecurity platform designed to protect users from malicious URLs and deceptive UPI payment requests.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The system utilizes a hybrid approach, combining real-time Threat Intelligence API lookups (e.g., Google Safe Browsing) with deep heuristic analysis (Lexical, SSL/TLS validation, DNS resolution, and Redirect tracing).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By aggregating these discrete security indicators deterministically, FraudEye computes a precise Risk Score and issues a clear verdict (SAFE, WARNING, or DANGEROUS) to mitigate social engineering, typosquatting, and phishing attacks.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0FF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The internet and digital payment ecosystems (like UPI in India) are increasingly plagued by sophisticated phishing attacks, lookalike domains, and deceptive links.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Users often struggle to visually identify malicious URLs or fraudulent UPI payment requests due to techniques like URL shorteners and Punycode (homograph attacks).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Current defenses rely primarily on static blacklists, which have a severe "time-to-detection" lag, leaving users vulnerable to zero-day phishing attacks.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FF9D"/>
                </a:solidFill>
              </a:rPr>
              <a:t>There is a critical need for a proactive, multi-engine risk analysis platform that deeply analyzes links before the user interacts with them.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0FF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F0FF"/>
                </a:solidFill>
              </a:rPr>
              <a:t>Develop a Hybrid Risk Engine:</a:t>
            </a:r>
            <a:r>
              <a:rPr lang="en-US" sz="2000" dirty="0">
                <a:solidFill>
                  <a:srgbClr val="F8FAFC"/>
                </a:solidFill>
              </a:rPr>
              <a:t>To aggregate threat intelligence and local heuristic checks for highly accurate URL classifications.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F0FF"/>
                </a:solidFill>
              </a:rPr>
              <a:t>Analyze UPI Deep Links:</a:t>
            </a:r>
            <a:r>
              <a:rPr lang="en-US" sz="2000" dirty="0">
                <a:solidFill>
                  <a:srgbClr val="F8FAFC"/>
                </a:solidFill>
              </a:rPr>
              <a:t>To parse and identify missing parameters or malicious payee identifiers in UPI payment URIs.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F0FF"/>
                </a:solidFill>
              </a:rPr>
              <a:t>Provide Transparent Threat Evidence:</a:t>
            </a:r>
            <a:r>
              <a:rPr lang="en-US" sz="2000" dirty="0">
                <a:solidFill>
                  <a:srgbClr val="F8FAFC"/>
                </a:solidFill>
              </a:rPr>
              <a:t>To show users exactly why a link was flagged.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F0FF"/>
                </a:solidFill>
              </a:rPr>
              <a:t>Support Enterprise-Scale Scans:</a:t>
            </a:r>
            <a:r>
              <a:rPr lang="en-US" sz="2000" dirty="0">
                <a:solidFill>
                  <a:srgbClr val="F8FAFC"/>
                </a:solidFill>
              </a:rPr>
              <a:t>To enable bulk CSV analysis of thousands of URLs via asynchronous background processing.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0FF"/>
                </a:solidFill>
              </a:rPr>
              <a:t>Literature Survey / Review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F0FF"/>
                </a:solidFill>
              </a:rPr>
              <a:t>Google Safe Browsing &amp; VirusTotal:</a:t>
            </a:r>
            <a:r>
              <a:rPr lang="en-US" sz="2000" dirty="0">
                <a:solidFill>
                  <a:srgbClr val="F8FAFC"/>
                </a:solidFill>
              </a:rPr>
              <a:t>Excellent at finding known threats, but strictly reliant on blacklists. Zero-day phishing campaigns often bypass them for hours.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F0FF"/>
                </a:solidFill>
              </a:rPr>
              <a:t>Machine Learning Models:</a:t>
            </a:r>
            <a:r>
              <a:rPr lang="en-US" sz="2000" dirty="0">
                <a:solidFill>
                  <a:srgbClr val="F8FAFC"/>
                </a:solidFill>
              </a:rPr>
              <a:t>Many research papers propose ML models for lexical analysis. However, they often suffer from false positives on newly registered but legitimate domains.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F0FF"/>
                </a:solidFill>
              </a:rPr>
              <a:t>Browser-based Defenses:</a:t>
            </a:r>
            <a:r>
              <a:rPr lang="en-US" sz="2000" dirty="0">
                <a:solidFill>
                  <a:srgbClr val="F8FAFC"/>
                </a:solidFill>
              </a:rPr>
              <a:t>Browser warnings are often generic and lack context for the user. They do not analyze mobile-specific intents like UPI links.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0FF"/>
                </a:solidFill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1525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8FAFC"/>
                </a:solidFill>
              </a:rPr>
              <a:t>1. Input Classification:</a:t>
            </a:r>
            <a:r>
              <a:rPr lang="en-US" sz="1800" dirty="0">
                <a:solidFill>
                  <a:srgbClr val="F8FAFC"/>
                </a:solidFill>
              </a:rPr>
              <a:t>Detects if the input is a standard URL or a UPI string.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8FAFC"/>
                </a:solidFill>
              </a:rPr>
              <a:t>2. Lexical &amp; Parsing Engine:</a:t>
            </a:r>
            <a:r>
              <a:rPr lang="en-US" sz="1800" dirty="0">
                <a:solidFill>
                  <a:srgbClr val="F8FAFC"/>
                </a:solidFill>
              </a:rPr>
              <a:t>Analyzes character patterns, detects punycode, and extracts domains/VPAs.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8FAFC"/>
                </a:solidFill>
              </a:rPr>
              <a:t>3. Network Verifiers:</a:t>
            </a:r>
            <a:r>
              <a:rPr lang="en-US" sz="1800" dirty="0">
                <a:solidFill>
                  <a:srgbClr val="F8FAFC"/>
                </a:solidFill>
              </a:rPr>
              <a:t>Checks live DNS records, validates SSL/TLS chains, and traces redirects.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8FAFC"/>
                </a:solidFill>
              </a:rPr>
              <a:t>4. Threat Intel Query:</a:t>
            </a:r>
            <a:r>
              <a:rPr lang="en-US" sz="1800" dirty="0">
                <a:solidFill>
                  <a:srgbClr val="F8FAFC"/>
                </a:solidFill>
              </a:rPr>
              <a:t>Cross-references the domain against Google Safe Browsing APIs.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8FAFC"/>
                </a:solidFill>
              </a:rPr>
              <a:t>5. Risk Aggregation (RiskEngine):</a:t>
            </a:r>
            <a:r>
              <a:rPr lang="en-US" sz="1800" dirty="0">
                <a:solidFill>
                  <a:srgbClr val="F8FAFC"/>
                </a:solidFill>
              </a:rPr>
              <a:t>Calculates the final Risk Score (0-100) based on accumulated indicators.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0FF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41148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F0FF"/>
                </a:solidFill>
              </a:rPr>
              <a:t>Frontend Layer:</a:t>
            </a:r>
            <a:r>
              <a:rPr lang="en-US" sz="1600" dirty="0">
                <a:solidFill>
                  <a:srgbClr val="F8FAFC"/>
                </a:solidFill>
              </a:rPr>
              <a:t>React.js / PHP-based UI, providing a dashboard, live scanner, and bulk analysis tools.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F0FF"/>
                </a:solidFill>
              </a:rPr>
              <a:t>Backend API Layer:</a:t>
            </a:r>
            <a:r>
              <a:rPr lang="en-US" sz="1600" dirty="0">
                <a:solidFill>
                  <a:srgbClr val="F8FAFC"/>
                </a:solidFill>
              </a:rPr>
              <a:t>Node.js (Express) providing asynchronous processing and batch job handling.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F0FF"/>
                </a:solidFill>
              </a:rPr>
              <a:t>Database Layer:</a:t>
            </a:r>
            <a:r>
              <a:rPr lang="en-US" sz="1600" dirty="0">
                <a:solidFill>
                  <a:srgbClr val="F8FAFC"/>
                </a:solidFill>
              </a:rPr>
              <a:t>SQLite relational database storing historical scans and batch job states.</a:t>
            </a:r>
            <a:endParaRPr lang="en-US" sz="1600" dirty="0"/>
          </a:p>
        </p:txBody>
      </p:sp>
      <p:pic>
        <p:nvPicPr>
          <p:cNvPr id="4" name="Image 0" descr="https://mermaid.ink/img/eyJjb2RlIjoiZ3JhcGggVERcbiAgICBVSVtGcm9udGVuZCBEYXNoYm9hcmRdIC0tPiBBUEkoTm9kZS5qcyAvIFBIUCBCYWNrZW5kKVxuICAgIEFQSSAtLT4gQ1tDbGFzc2lmaWVyXVxuICAgIEMgLS0+IFVSTEVuZ2luZVtVUkwgUGlwZWxpbmVdXG4gICAgQyAtLT4gVVBJRW5naW5lW1VQSSBQaXBlbGluZV1cbiAgICBVUkxFbmdpbmUgLS0+IExleFtMZXhpY2FsXVxuICAgIFVSTEVuZ2luZSAtLT4gRE5TW0ROU11cbiAgICBVUkxFbmdpbmUgLS0+IFNTTFtTU0xdXG4gICAgVVJMRW5naW5lIC0tPiBUSVtUaHJlYXQgSW50ZWxdXG4gICAgTGV4IC0tPiBSRVtSaXNrIEVuZ2luZV1cbiAgICBETlMgLS0+IFJFXG4gICAgU1NMIC0tPiBSRVxuICAgIFRJIC0tPiBSRVxuICAgIFVQSUVuZ2luZSAtLT4gUkVcbiAgICBSRSAtLT4gREJbKERhdGFiYXNlKV1cbiAgICBSRSAtLT4gVUkiLCJtZXJtYWlkIjp7InRoZW1lIjoiZGFyayJ9fQ==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>
          <a:xfrm>
            <a:off x="5029200" y="771525"/>
            <a:ext cx="3657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0FF"/>
                </a:solidFill>
              </a:rPr>
              <a:t>DFD, UML, and ER Diagrams (1/3)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FF9D"/>
                </a:solidFill>
              </a:rPr>
              <a:t>Data Flow Diagram (Level 0)</a:t>
            </a:r>
            <a:endParaRPr lang="en-US" sz="2400" dirty="0"/>
          </a:p>
        </p:txBody>
      </p:sp>
      <p:pic>
        <p:nvPicPr>
          <p:cNvPr id="4" name="Image 0" descr="https://mermaid.ink/img/eyJjb2RlIjoiZ3JhcGggTFJcbiAgICBVc2VyKFtVc2VyXSkgLS0gU3VibWl0cyBVUkwvVVBJIC0tPiBTeXN0ZW1bRnJhdWRFeWUgU3lzdGVtXVxuICAgIFN5c3RlbSAtLSBSZXR1cm5zIFZlcmRpY3QgJiBFdmlkZW5jZSAtLT4gVXNlclxuICAgIFN5c3RlbSAtLSBRdWVyaWVzIERvbWFpbi9TU0wgLS0+IFdlYltFeHRlcm5hbCBXZWIgU2VydmVyc11cbiAgICBTeXN0ZW0gLS0gUXVlcmllcyBBUEkgLS0+IEdTQltHb29nbGUgU2FmZSBCcm93c2luZ10iLCJtZXJtYWlkIjp7InRoZW1lIjoiZGFyayJ9fQ==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>
          <a:xfrm>
            <a:off x="914400" y="1285875"/>
            <a:ext cx="7315200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0FF"/>
                </a:solidFill>
              </a:rPr>
              <a:t>DFD, UML, and ER Diagrams (2/3)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FF9D"/>
                </a:solidFill>
              </a:rPr>
              <a:t>UML Use Case Diagram</a:t>
            </a:r>
            <a:endParaRPr lang="en-US" sz="2400" dirty="0"/>
          </a:p>
        </p:txBody>
      </p:sp>
      <p:pic>
        <p:nvPicPr>
          <p:cNvPr id="4" name="Image 0" descr="https://mermaid.ink/img/eyJjb2RlIjoidXNlY2FzZURpYWdyYW1cbiAgICBhY3RvciBVc2VyXG4gICAgYWN0b3IgQWRtaW5cbiAgICBVc2VyIC0tPiAoU2NhbiBTaW5nbGUgVVJMKVxuICAgIFVzZXIgLS0+IChTY2FuIFNpbmdsZSBVUEkpXG4gICAgVXNlciAtLT4gKEJ1bGsgU2NhbiB2aWEgQ1NWKVxuICAgIFVzZXIgLS0+IChFeHBvcnQgU2NhbiBIaXN0b3J5KVxuICAgIEFkbWluIC0tPiAoVmlldyBHbG9iYWwgU3RhdHMpXG4gICAgQWRtaW4gLS0+IChDb25maWd1cmUgQVBJIEtleXMpXG4gICAgKEJ1bGsgU2NhbiB2aWEgQ1NWKSAuPiAoU2NhbiBTaW5nbGUgVVJMKSA6IDw8aW5jbHVkZXM+PiIsIm1lcm1haWQiOnsidGhlbWUiOiJkYXJrIn19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1285875"/>
            <a:ext cx="7315200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0FF"/>
                </a:solidFill>
              </a:rPr>
              <a:t>DFD, UML, and ER Diagrams (3/3)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FF9D"/>
                </a:solidFill>
              </a:rPr>
              <a:t>Entity-Relationship (ER) Diagram</a:t>
            </a:r>
            <a:endParaRPr lang="en-US" sz="2400" dirty="0"/>
          </a:p>
        </p:txBody>
      </p:sp>
      <p:pic>
        <p:nvPicPr>
          <p:cNvPr id="4" name="Image 0" descr="https://mermaid.ink/img/eyJjb2RlIjoiZXJEaWFncmFtXG4gICAgU0NBTl9TRVNTSU9OUyB7XG4gICAgICAgIGludCBzY2FuX2lkIFBLXG4gICAgICAgIHN0cmluZyBpbnB1dF90eXBlXG4gICAgICAgIHN0cmluZyBwYXlsb2FkX3R5cGVcbiAgICAgICAgc3RyaW5nIGZpbmFsX3VybFxuICAgICAgICBpbnQgcmlza19zY29yZVxuICAgICAgICBzdHJpbmcgcmlza19sZXZlbFxuICAgIH1cbiAgICBUSFJFQVRfSU5ESUNBVE9SUyB7XG4gICAgICAgIGludCBpbmRpY2F0b3JfaWQgUEtcbiAgICAgICAgaW50IHNjYW5faWQgRktcbiAgICAgICAgc3RyaW5nIHNldmVyaXR5XG4gICAgfVxuICAgIEJBVENIX0pPQlMge1xuICAgICAgICBzdHJpbmcgYmF0Y2hfaWQgUEtcbiAgICAgICAgc3RyaW5nIHN0YXR1c1xuICAgIH1cbiAgICBTQ0FOX1NFU1NJT05TIHx8LS1veyBUSFJFQVRfSU5ESUNBVE9SUyA6IGdlbmVyYXRlc1xuICAgIEJBVENIX0pPQlMgfHwtLW97IFNDQU5fU0VTU0lPTlMgOiBjb250YWlucyIsIm1lcm1haWQiOnsidGhlbWUiOiJkYXJrIn19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>
          <a:xfrm>
            <a:off x="2729133" y="1171575"/>
            <a:ext cx="310896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0FF"/>
                </a:solidFill>
              </a:rPr>
              <a:t>System Modules and Data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F0FF"/>
                </a:solidFill>
              </a:rPr>
              <a:t>Input Classifier &amp; Lexical Analyzer:</a:t>
            </a:r>
            <a:r>
              <a:rPr lang="en-US" sz="1600" dirty="0">
                <a:solidFill>
                  <a:srgbClr val="F8FAFC"/>
                </a:solidFill>
              </a:rPr>
              <a:t>Checks for IP-based hosts, excessively long subdomains, typosquatting patterns, and homograph attacks.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F0FF"/>
                </a:solidFill>
              </a:rPr>
              <a:t>Network Checkers (DNS, SSL, Redirect):</a:t>
            </a:r>
            <a:r>
              <a:rPr lang="en-US" sz="1600" dirty="0">
                <a:solidFill>
                  <a:srgbClr val="F8FAFC"/>
                </a:solidFill>
              </a:rPr>
              <a:t>Validates domain resolution, certificate expiry/hostname mismatch, and excessive redirects / HTTP downgrades.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F0FF"/>
                </a:solidFill>
              </a:rPr>
              <a:t>Threat Intelligence:</a:t>
            </a:r>
            <a:r>
              <a:rPr lang="en-US" sz="1600" dirty="0">
                <a:solidFill>
                  <a:srgbClr val="F8FAFC"/>
                </a:solidFill>
              </a:rPr>
              <a:t>Cross-references destination with global threat databases (e.g., Google Safe Browsing).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0F0FF"/>
                </a:solidFill>
              </a:rPr>
              <a:t>Risk Scoring Engine:</a:t>
            </a:r>
            <a:r>
              <a:rPr lang="en-US" sz="1600" dirty="0">
                <a:solidFill>
                  <a:srgbClr val="F8FAFC"/>
                </a:solidFill>
              </a:rPr>
              <a:t>Aggregates indicators deterministically. Errors reduce Confidence; explicit fraud spikes Risk Score.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0FF"/>
                </a:solidFill>
              </a:rPr>
              <a:t>Tool and Technology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F0FF"/>
                </a:solidFill>
              </a:rPr>
              <a:t>Frontend Technologies:</a:t>
            </a:r>
            <a:r>
              <a:rPr lang="en-US" sz="2000" dirty="0">
                <a:solidFill>
                  <a:srgbClr val="F8FAFC"/>
                </a:solidFill>
              </a:rPr>
              <a:t>React.js, Vite, Tailwind CSS (for modern UI components and glassmorphism styling). PHP (for legacy rendering views).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F0FF"/>
                </a:solidFill>
              </a:rPr>
              <a:t>Backend Technologies:</a:t>
            </a:r>
            <a:r>
              <a:rPr lang="en-US" sz="2000" dirty="0">
                <a:solidFill>
                  <a:srgbClr val="F8FAFC"/>
                </a:solidFill>
              </a:rPr>
              <a:t>Node.js, Express.js (for high-concurrency API requests and background batch processing).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F0FF"/>
                </a:solidFill>
              </a:rPr>
              <a:t>Database Management:</a:t>
            </a:r>
            <a:r>
              <a:rPr lang="en-US" sz="2000" dirty="0">
                <a:solidFill>
                  <a:srgbClr val="F8FAFC"/>
                </a:solidFill>
              </a:rPr>
              <a:t>SQLite (for lightweight, transactional storage of scan histories and reports).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F0FF"/>
                </a:solidFill>
              </a:rPr>
              <a:t>External APIs &amp; Libraries:</a:t>
            </a:r>
            <a:r>
              <a:rPr lang="en-US" sz="2000" dirty="0">
                <a:solidFill>
                  <a:srgbClr val="F8FAFC"/>
                </a:solidFill>
              </a:rPr>
              <a:t>Google Safe Browsing API (Threat Intelligence), `tls` &amp; `dns` native modules, Axios.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0FF"/>
                </a:solidFill>
              </a:rPr>
              <a:t>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FF9D"/>
                </a:solidFill>
              </a:rPr>
              <a:t>Accurate Heuristic Detection:</a:t>
            </a:r>
            <a:r>
              <a:rPr lang="en-US" sz="2000" dirty="0">
                <a:solidFill>
                  <a:srgbClr val="F8FAFC"/>
                </a:solidFill>
              </a:rPr>
              <a:t>The system successfully identifies suspicious traits (e.g., missing SSL, IP-based URLs) even before a domain is blacklisted by threat intel APIs.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FF9D"/>
                </a:solidFill>
              </a:rPr>
              <a:t>Zero False-Positives for "Dangerous":</a:t>
            </a:r>
            <a:r>
              <a:rPr lang="en-US" sz="2000" dirty="0">
                <a:solidFill>
                  <a:srgbClr val="F8FAFC"/>
                </a:solidFill>
              </a:rPr>
              <a:t>By capping heuristic risk scores at 60 (WARNING) and only elevating to DANGEROUS upon explicit fraud evidence, false alarms are significantly minimized.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FF9D"/>
                </a:solidFill>
              </a:rPr>
              <a:t>Effective Bulk Analysis:</a:t>
            </a:r>
            <a:r>
              <a:rPr lang="en-US" sz="2000" dirty="0">
                <a:solidFill>
                  <a:srgbClr val="F8FAFC"/>
                </a:solidFill>
              </a:rPr>
              <a:t>The batch processor is capable of handling hundreds of URLs in parallel without blocking the main UI thread.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0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FraudEye successfully bridges the gap between simple blacklists and complex, opaque security tools by structurally separating technical networking errors from explicit fraud evidence.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It provides a scalable, extensible, and immediate defense against deceptive links by presenting transparent evidence to the user.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The hybrid architecture ensures both high sensitivity to zero-day threats and robustness against false positives, setting a new standard for link analysis.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0FF"/>
                </a:solidFill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8FAFC"/>
                </a:solidFill>
              </a:rPr>
              <a:t>Machine Learning Integration:</a:t>
            </a:r>
            <a:r>
              <a:rPr lang="en-US" sz="2000" dirty="0">
                <a:solidFill>
                  <a:srgbClr val="F8FAFC"/>
                </a:solidFill>
              </a:rPr>
              <a:t>Implement a predictive Domain Generation Algorithm (DGA) detection model to identify algorithmically generated malicious domains instantly.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8FAFC"/>
                </a:solidFill>
              </a:rPr>
              <a:t>Browser Extension:</a:t>
            </a:r>
            <a:r>
              <a:rPr lang="en-US" sz="2000" dirty="0">
                <a:solidFill>
                  <a:srgbClr val="F8FAFC"/>
                </a:solidFill>
              </a:rPr>
              <a:t>Develop a Chrome/Firefox extension that automatically scans links on web pages (like WhatsApp Web) seamlessly in the background.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8FAFC"/>
                </a:solidFill>
              </a:rPr>
              <a:t>Optical Character Recognition (OCR):</a:t>
            </a:r>
            <a:r>
              <a:rPr lang="en-US" sz="2000" dirty="0">
                <a:solidFill>
                  <a:srgbClr val="F8FAFC"/>
                </a:solidFill>
              </a:rPr>
              <a:t>Add capabilities to scan QR codes and images for hidden malicious UPI requests or links.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0FF"/>
                </a:solidFill>
              </a:rPr>
              <a:t>Reference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1. Google Safe Browsing API Documentation, "Checking URLs against Google's constantly updated lists of unsafe web resources." [Online]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2. National Payments Corporation of India (NPCI), "UPI Linking Specification &amp; URI Scheme." [Online]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3. Garera, S., Provos, N., et al., "A framework for detection and measurement of phishing attacks," in Proceedings of the 2007 ACM Workshop on Recurring Malcode.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</a:rPr>
              <a:t>4. Feroz, M. N., &amp; Mengel, S., "Phishing URL detection using lexical features and blacklist," in IEEE International Conference on Big Data, 2014.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1196</Words>
  <Application>Microsoft Office PowerPoint</Application>
  <PresentationFormat>On-screen Show (16:9)</PresentationFormat>
  <Paragraphs>100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Sarthak Salunke</cp:lastModifiedBy>
  <cp:revision>1</cp:revision>
  <dcterms:created xsi:type="dcterms:W3CDTF">2026-07-09T13:47:16Z</dcterms:created>
  <dcterms:modified xsi:type="dcterms:W3CDTF">2026-07-09T13:55:02Z</dcterms:modified>
</cp:coreProperties>
</file>